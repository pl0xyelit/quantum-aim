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ileron" panose="020B0604020202020204" charset="-18"/>
      <p:regular r:id="rId13"/>
    </p:embeddedFont>
    <p:embeddedFont>
      <p:font typeface="Alegreya Sans SC" panose="020B0604020202020204" charset="0"/>
      <p:regular r:id="rId14"/>
    </p:embeddedFont>
    <p:embeddedFont>
      <p:font typeface="Alegreya Sans SC Bold" panose="020B0604020202020204" charset="0"/>
      <p:regular r:id="rId15"/>
    </p:embeddedFont>
    <p:embeddedFont>
      <p:font typeface="Charmonman" panose="00000500000000000000" pitchFamily="2" charset="-34"/>
      <p:regular r:id="rId16"/>
    </p:embeddedFont>
    <p:embeddedFont>
      <p:font typeface="Open Sans" panose="020B0606030504020204" pitchFamily="34" charset="0"/>
      <p:regular r:id="rId17"/>
    </p:embeddedFont>
    <p:embeddedFont>
      <p:font typeface="Times New Roman Bold" panose="02020803070505020304" pitchFamily="18" charset="0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619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19025" y="3417113"/>
            <a:ext cx="13968571" cy="2629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>
                <a:solidFill>
                  <a:srgbClr val="000000"/>
                </a:solidFill>
                <a:latin typeface="Charmonman"/>
                <a:ea typeface="Charmonman"/>
                <a:cs typeface="Charmonman"/>
                <a:sym typeface="Charmonman"/>
              </a:rPr>
              <a:t>Fraud on a Quantum Budget: Arhitectura TTN-Funnel, Noise-Aware &amp; ZNE Exponențial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77756" y="7167460"/>
            <a:ext cx="3088481" cy="178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4"/>
              </a:lnSpc>
            </a:pPr>
            <a:r>
              <a:rPr lang="en-US" sz="420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Costea Filip</a:t>
            </a:r>
          </a:p>
          <a:p>
            <a:pPr algn="l">
              <a:lnSpc>
                <a:spcPts val="4494"/>
              </a:lnSpc>
            </a:pPr>
            <a:r>
              <a:rPr lang="en-US" sz="420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Chiriac Mihai</a:t>
            </a:r>
          </a:p>
          <a:p>
            <a:pPr algn="l">
              <a:lnSpc>
                <a:spcPts val="4494"/>
              </a:lnSpc>
            </a:pPr>
            <a:r>
              <a:rPr lang="en-US" sz="420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Ivascu Stefan</a:t>
            </a:r>
            <a:r>
              <a:rPr lang="en-US" sz="4200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 </a:t>
            </a:r>
          </a:p>
        </p:txBody>
      </p:sp>
      <p:sp>
        <p:nvSpPr>
          <p:cNvPr id="8" name="Freeform 8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98662" y="3660682"/>
            <a:ext cx="4493388" cy="2965636"/>
            <a:chOff x="0" y="0"/>
            <a:chExt cx="635000" cy="419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33652" y="0"/>
                  </a:moveTo>
                  <a:lnTo>
                    <a:pt x="601348" y="0"/>
                  </a:lnTo>
                  <a:cubicBezTo>
                    <a:pt x="619934" y="0"/>
                    <a:pt x="635000" y="15066"/>
                    <a:pt x="635000" y="33652"/>
                  </a:cubicBezTo>
                  <a:lnTo>
                    <a:pt x="635000" y="385448"/>
                  </a:lnTo>
                  <a:cubicBezTo>
                    <a:pt x="635000" y="404034"/>
                    <a:pt x="619934" y="419100"/>
                    <a:pt x="601348" y="419100"/>
                  </a:cubicBezTo>
                  <a:lnTo>
                    <a:pt x="33652" y="419100"/>
                  </a:lnTo>
                  <a:cubicBezTo>
                    <a:pt x="15066" y="419100"/>
                    <a:pt x="0" y="404034"/>
                    <a:pt x="0" y="385448"/>
                  </a:cubicBezTo>
                  <a:lnTo>
                    <a:pt x="0" y="33652"/>
                  </a:lnTo>
                  <a:cubicBezTo>
                    <a:pt x="0" y="15066"/>
                    <a:pt x="15066" y="0"/>
                    <a:pt x="336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6350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22 vs 126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Locații de zgomot( -82,5%)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Doar 4 porți CNOT &amp; 8 parametrii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78428" y="829525"/>
            <a:ext cx="8531143" cy="2469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Detecția Fraudelor pe Buget Cuantic: TTN-Funnel, Noise-Aware &amp; ZNE Exponențial Arhitectură cuantică compactă în con de lumină cu selecție ANOVA și atenuare analitică a zgomotului.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897306" y="3660682"/>
            <a:ext cx="4493388" cy="2965636"/>
            <a:chOff x="0" y="0"/>
            <a:chExt cx="635000" cy="419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33652" y="0"/>
                  </a:moveTo>
                  <a:lnTo>
                    <a:pt x="601348" y="0"/>
                  </a:lnTo>
                  <a:cubicBezTo>
                    <a:pt x="619934" y="0"/>
                    <a:pt x="635000" y="15066"/>
                    <a:pt x="635000" y="33652"/>
                  </a:cubicBezTo>
                  <a:lnTo>
                    <a:pt x="635000" y="385448"/>
                  </a:lnTo>
                  <a:cubicBezTo>
                    <a:pt x="635000" y="404034"/>
                    <a:pt x="619934" y="419100"/>
                    <a:pt x="601348" y="419100"/>
                  </a:cubicBezTo>
                  <a:lnTo>
                    <a:pt x="33652" y="419100"/>
                  </a:lnTo>
                  <a:cubicBezTo>
                    <a:pt x="15066" y="419100"/>
                    <a:pt x="0" y="404034"/>
                    <a:pt x="0" y="385448"/>
                  </a:cubicBezTo>
                  <a:lnTo>
                    <a:pt x="0" y="33652"/>
                  </a:lnTo>
                  <a:cubicBezTo>
                    <a:pt x="0" y="15066"/>
                    <a:pt x="15066" y="0"/>
                    <a:pt x="336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6350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0,758 AUPRC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Performanță vârf p=0,05</a:t>
              </a:r>
            </a:p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Spearman ρ = 0,987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72849" y="3660682"/>
            <a:ext cx="4493388" cy="2965636"/>
            <a:chOff x="0" y="0"/>
            <a:chExt cx="635000" cy="419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33652" y="0"/>
                  </a:moveTo>
                  <a:lnTo>
                    <a:pt x="601348" y="0"/>
                  </a:lnTo>
                  <a:cubicBezTo>
                    <a:pt x="619934" y="0"/>
                    <a:pt x="635000" y="15066"/>
                    <a:pt x="635000" y="33652"/>
                  </a:cubicBezTo>
                  <a:lnTo>
                    <a:pt x="635000" y="385448"/>
                  </a:lnTo>
                  <a:cubicBezTo>
                    <a:pt x="635000" y="404034"/>
                    <a:pt x="619934" y="419100"/>
                    <a:pt x="601348" y="419100"/>
                  </a:cubicBezTo>
                  <a:lnTo>
                    <a:pt x="33652" y="419100"/>
                  </a:lnTo>
                  <a:cubicBezTo>
                    <a:pt x="15066" y="419100"/>
                    <a:pt x="0" y="404034"/>
                    <a:pt x="0" y="385448"/>
                  </a:cubicBezTo>
                  <a:lnTo>
                    <a:pt x="0" y="33652"/>
                  </a:lnTo>
                  <a:cubicBezTo>
                    <a:pt x="0" y="15066"/>
                    <a:pt x="15066" y="0"/>
                    <a:pt x="336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123825"/>
              <a:ext cx="635000" cy="542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4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-98,8 % Cost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Execuții Antrenare QPU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19025" y="6830074"/>
            <a:ext cx="16346573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Problemă rezolvată: Circuitul Baseline VQC (32 parametri, 21–33 CNOT-uri) suferă o prăbușire a clasamentului la p = 0,05 (Spearman ρ = 0,545) și necesită milioane de execuții pe QPU.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25156" y="8234308"/>
            <a:ext cx="12764736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Abordarea noastră: Înlocuim PCA-ul orb cu selecție supervizată ANOVA F-test, comprimăm circuitul într-un arbore TTN-Funnel și accelerăm antrenarea prin emulare analitică a zgomotului.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110214" y="3365141"/>
            <a:ext cx="12376386" cy="5138605"/>
            <a:chOff x="0" y="0"/>
            <a:chExt cx="3259624" cy="13533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350957" y="3855707"/>
            <a:ext cx="9894900" cy="408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1.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Undersampling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Asimetric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1:3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Păstrăm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toate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fraudele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și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de 3×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mai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multe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tranzacții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legitime (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ratio=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3</a:t>
            </a:r>
            <a:r>
              <a:rPr lang="en-US" sz="21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),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calibrând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mult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mai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realist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probabilitățile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față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raportul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1:1 din Task 1.</a:t>
            </a:r>
          </a:p>
          <a:p>
            <a:pPr algn="ctr">
              <a:lnSpc>
                <a:spcPts val="3234"/>
              </a:lnSpc>
            </a:pP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2.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SmartFeatureEncoder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(ANOVA k=4)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StandardScaler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urmat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SelectKBest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(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f_classif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, k=4):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extrage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direct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cele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4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trăsături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cu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varianța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inter-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clase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maximă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,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mapate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în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[0, π]. </a:t>
            </a:r>
          </a:p>
          <a:p>
            <a:pPr algn="ctr">
              <a:lnSpc>
                <a:spcPts val="3234"/>
              </a:lnSpc>
            </a:pP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3. Etapa 1: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Pâlnia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Arbore (TTN)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Comprimă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informația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din (q3→q2 )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și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(q1→q0 ),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apoi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fuzionează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ramurile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prin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CNOT(2→0).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Qubiții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2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și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3 sunt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opriți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definitiv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. </a:t>
            </a:r>
          </a:p>
          <a:p>
            <a:pPr algn="ctr">
              <a:lnSpc>
                <a:spcPts val="3234"/>
              </a:lnSpc>
            </a:pP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4. Etapa 2: Data Re-uploading pe [q0, q1] Re-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încarcă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trăsăturile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dominante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x0 , x1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prin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RY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și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aplică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un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singur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CNOT(1→0)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înainte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citirea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P(</a:t>
            </a:r>
            <a:r>
              <a:rPr lang="en-US" sz="21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fraudă</a:t>
            </a:r>
            <a:r>
              <a:rPr lang="en-US" sz="21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) = (1 − ⟨Z0 ⟩)/2.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739178" y="8712703"/>
            <a:ext cx="11047998" cy="1403323"/>
            <a:chOff x="0" y="0"/>
            <a:chExt cx="2909761" cy="36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09761" cy="369600"/>
            </a:xfrm>
            <a:custGeom>
              <a:avLst/>
              <a:gdLst/>
              <a:ahLst/>
              <a:cxnLst/>
              <a:rect l="l" t="t" r="r" b="b"/>
              <a:pathLst>
                <a:path w="2909761" h="369600">
                  <a:moveTo>
                    <a:pt x="2706561" y="0"/>
                  </a:moveTo>
                  <a:cubicBezTo>
                    <a:pt x="2818785" y="0"/>
                    <a:pt x="2909761" y="82738"/>
                    <a:pt x="2909761" y="184800"/>
                  </a:cubicBezTo>
                  <a:cubicBezTo>
                    <a:pt x="2909761" y="286862"/>
                    <a:pt x="2818785" y="369600"/>
                    <a:pt x="2706561" y="369600"/>
                  </a:cubicBezTo>
                  <a:lnTo>
                    <a:pt x="203200" y="369600"/>
                  </a:lnTo>
                  <a:cubicBezTo>
                    <a:pt x="90976" y="369600"/>
                    <a:pt x="0" y="286862"/>
                    <a:pt x="0" y="184800"/>
                  </a:cubicBezTo>
                  <a:cubicBezTo>
                    <a:pt x="0" y="827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909761" cy="42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Avantaj Structural Major: Față de Baseline VQC (32 parametri, 21–33 CNOT-uri), lightcone_vqc elimină toate porțile din afara conului de lumină al qubitului 0, păstrând doar 22 de porți cuantice (dintre care 4 CNOT-uri).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690537" y="385720"/>
            <a:ext cx="8531143" cy="237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Procesare și design de circuit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03784" y="2685325"/>
            <a:ext cx="6374200" cy="3484870"/>
            <a:chOff x="0" y="0"/>
            <a:chExt cx="1311564" cy="7170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11564" cy="717051"/>
            </a:xfrm>
            <a:custGeom>
              <a:avLst/>
              <a:gdLst/>
              <a:ahLst/>
              <a:cxnLst/>
              <a:rect l="l" t="t" r="r" b="b"/>
              <a:pathLst>
                <a:path w="1311564" h="717051">
                  <a:moveTo>
                    <a:pt x="23722" y="0"/>
                  </a:moveTo>
                  <a:lnTo>
                    <a:pt x="1287842" y="0"/>
                  </a:lnTo>
                  <a:cubicBezTo>
                    <a:pt x="1294133" y="0"/>
                    <a:pt x="1300167" y="2499"/>
                    <a:pt x="1304616" y="6948"/>
                  </a:cubicBezTo>
                  <a:cubicBezTo>
                    <a:pt x="1309064" y="11397"/>
                    <a:pt x="1311564" y="17431"/>
                    <a:pt x="1311564" y="23722"/>
                  </a:cubicBezTo>
                  <a:lnTo>
                    <a:pt x="1311564" y="693329"/>
                  </a:lnTo>
                  <a:cubicBezTo>
                    <a:pt x="1311564" y="706431"/>
                    <a:pt x="1300943" y="717051"/>
                    <a:pt x="1287842" y="717051"/>
                  </a:cubicBezTo>
                  <a:lnTo>
                    <a:pt x="23722" y="717051"/>
                  </a:lnTo>
                  <a:cubicBezTo>
                    <a:pt x="10621" y="717051"/>
                    <a:pt x="0" y="706431"/>
                    <a:pt x="0" y="693329"/>
                  </a:cubicBezTo>
                  <a:lnTo>
                    <a:pt x="0" y="23722"/>
                  </a:lnTo>
                  <a:cubicBezTo>
                    <a:pt x="0" y="10621"/>
                    <a:pt x="10621" y="0"/>
                    <a:pt x="23722" y="0"/>
                  </a:cubicBezTo>
                  <a:close/>
                </a:path>
              </a:pathLst>
            </a:custGeom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311564" cy="774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Modelul 3 în Grafice 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Varianta A: TTN (Frugal) 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Antrenare: Pe simulatorul curat (lc_model_clean) cu AdamW (lr=0,06, max 16 epoci). 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Economie dublă: Validare la fiecare 4 epoci pe doar 10% din setul de validare (Zs_val_sub) + Early Stopping (patience=2, oprire automată la ~8 epoci).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78428" y="377852"/>
            <a:ext cx="8531143" cy="286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6"/>
              </a:lnSpc>
            </a:pPr>
            <a:r>
              <a:rPr lang="en-US" sz="180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INOVAȚII ÎN ANTRENARE ȘI INFERENȚĂ SUB ZGOMOT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78428" y="1250466"/>
            <a:ext cx="8531143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Cele 3 Variante ale Modelului TTN: Frugal, Noise-Aware &amp; ZNE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12400" y="2559716"/>
            <a:ext cx="6374200" cy="3903970"/>
            <a:chOff x="0" y="0"/>
            <a:chExt cx="1311564" cy="8032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11564" cy="803286"/>
            </a:xfrm>
            <a:custGeom>
              <a:avLst/>
              <a:gdLst/>
              <a:ahLst/>
              <a:cxnLst/>
              <a:rect l="l" t="t" r="r" b="b"/>
              <a:pathLst>
                <a:path w="1311564" h="803286">
                  <a:moveTo>
                    <a:pt x="23722" y="0"/>
                  </a:moveTo>
                  <a:lnTo>
                    <a:pt x="1287842" y="0"/>
                  </a:lnTo>
                  <a:cubicBezTo>
                    <a:pt x="1294133" y="0"/>
                    <a:pt x="1300167" y="2499"/>
                    <a:pt x="1304616" y="6948"/>
                  </a:cubicBezTo>
                  <a:cubicBezTo>
                    <a:pt x="1309064" y="11397"/>
                    <a:pt x="1311564" y="17431"/>
                    <a:pt x="1311564" y="23722"/>
                  </a:cubicBezTo>
                  <a:lnTo>
                    <a:pt x="1311564" y="779564"/>
                  </a:lnTo>
                  <a:cubicBezTo>
                    <a:pt x="1311564" y="792665"/>
                    <a:pt x="1300943" y="803286"/>
                    <a:pt x="1287842" y="803286"/>
                  </a:cubicBezTo>
                  <a:lnTo>
                    <a:pt x="23722" y="803286"/>
                  </a:lnTo>
                  <a:cubicBezTo>
                    <a:pt x="10621" y="803286"/>
                    <a:pt x="0" y="792665"/>
                    <a:pt x="0" y="779564"/>
                  </a:cubicBezTo>
                  <a:lnTo>
                    <a:pt x="0" y="23722"/>
                  </a:lnTo>
                  <a:cubicBezTo>
                    <a:pt x="0" y="10621"/>
                    <a:pt x="10621" y="0"/>
                    <a:pt x="23722" y="0"/>
                  </a:cubicBezTo>
                  <a:close/>
                </a:path>
              </a:pathLst>
            </a:custGeom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311564" cy="860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Modelul 4 în Grafice 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Varianta B: TTN (Noise-Aware Fast) 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Emulare matematică instantanee: Evită rularea lentă pe default.mixed la antrenare înmulțind ieșirea curată cu factorul analitic de amortizare pe 22 locații la p=0,01: ⟨Z0 ⟩noisy = ⟨Z0 ⟩clean · (1 − 0,01) 22 ≈ 0,8016 · ⟨Z0 ⟩clean . 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Efect: Forțează rotații mai pure (±1) contra contracției Bloch.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98013" y="6240418"/>
            <a:ext cx="6374200" cy="3484870"/>
            <a:chOff x="0" y="0"/>
            <a:chExt cx="1311564" cy="7170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11564" cy="717051"/>
            </a:xfrm>
            <a:custGeom>
              <a:avLst/>
              <a:gdLst/>
              <a:ahLst/>
              <a:cxnLst/>
              <a:rect l="l" t="t" r="r" b="b"/>
              <a:pathLst>
                <a:path w="1311564" h="717051">
                  <a:moveTo>
                    <a:pt x="23722" y="0"/>
                  </a:moveTo>
                  <a:lnTo>
                    <a:pt x="1287842" y="0"/>
                  </a:lnTo>
                  <a:cubicBezTo>
                    <a:pt x="1294133" y="0"/>
                    <a:pt x="1300167" y="2499"/>
                    <a:pt x="1304616" y="6948"/>
                  </a:cubicBezTo>
                  <a:cubicBezTo>
                    <a:pt x="1309064" y="11397"/>
                    <a:pt x="1311564" y="17431"/>
                    <a:pt x="1311564" y="23722"/>
                  </a:cubicBezTo>
                  <a:lnTo>
                    <a:pt x="1311564" y="693329"/>
                  </a:lnTo>
                  <a:cubicBezTo>
                    <a:pt x="1311564" y="706431"/>
                    <a:pt x="1300943" y="717051"/>
                    <a:pt x="1287842" y="717051"/>
                  </a:cubicBezTo>
                  <a:lnTo>
                    <a:pt x="23722" y="717051"/>
                  </a:lnTo>
                  <a:cubicBezTo>
                    <a:pt x="10621" y="717051"/>
                    <a:pt x="0" y="706431"/>
                    <a:pt x="0" y="693329"/>
                  </a:cubicBezTo>
                  <a:lnTo>
                    <a:pt x="0" y="23722"/>
                  </a:lnTo>
                  <a:cubicBezTo>
                    <a:pt x="0" y="10621"/>
                    <a:pt x="10621" y="0"/>
                    <a:pt x="23722" y="0"/>
                  </a:cubicBezTo>
                  <a:close/>
                </a:path>
              </a:pathLst>
            </a:custGeom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311564" cy="774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Modelul 5 în Grafice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Varianta C: TTN (ZNE Exponențial) 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Zero cost de antrenare: Refolosește direct ponderile w_frugal. 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Extrapolare la inferență: Evaluează circuitul la zgomotul p (Z1 ) și la zgomotul amplificat c·p = 1,5p (Z2 ), anulând decăderea exponențială Z(p) ≈ Zideal · e −λp 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42307" y="6463687"/>
            <a:ext cx="6374200" cy="3065770"/>
            <a:chOff x="0" y="0"/>
            <a:chExt cx="1311564" cy="6308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11564" cy="630817"/>
            </a:xfrm>
            <a:custGeom>
              <a:avLst/>
              <a:gdLst/>
              <a:ahLst/>
              <a:cxnLst/>
              <a:rect l="l" t="t" r="r" b="b"/>
              <a:pathLst>
                <a:path w="1311564" h="630817">
                  <a:moveTo>
                    <a:pt x="23722" y="0"/>
                  </a:moveTo>
                  <a:lnTo>
                    <a:pt x="1287842" y="0"/>
                  </a:lnTo>
                  <a:cubicBezTo>
                    <a:pt x="1294133" y="0"/>
                    <a:pt x="1300167" y="2499"/>
                    <a:pt x="1304616" y="6948"/>
                  </a:cubicBezTo>
                  <a:cubicBezTo>
                    <a:pt x="1309064" y="11397"/>
                    <a:pt x="1311564" y="17431"/>
                    <a:pt x="1311564" y="23722"/>
                  </a:cubicBezTo>
                  <a:lnTo>
                    <a:pt x="1311564" y="607095"/>
                  </a:lnTo>
                  <a:cubicBezTo>
                    <a:pt x="1311564" y="620196"/>
                    <a:pt x="1300943" y="630817"/>
                    <a:pt x="1287842" y="630817"/>
                  </a:cubicBezTo>
                  <a:lnTo>
                    <a:pt x="23722" y="630817"/>
                  </a:lnTo>
                  <a:cubicBezTo>
                    <a:pt x="10621" y="630817"/>
                    <a:pt x="0" y="620196"/>
                    <a:pt x="0" y="607095"/>
                  </a:cubicBezTo>
                  <a:lnTo>
                    <a:pt x="0" y="23722"/>
                  </a:lnTo>
                  <a:cubicBezTo>
                    <a:pt x="0" y="10621"/>
                    <a:pt x="10621" y="0"/>
                    <a:pt x="23722" y="0"/>
                  </a:cubicBezTo>
                  <a:close/>
                </a:path>
              </a:pathLst>
            </a:custGeom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311564" cy="687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Stabilizare Gradienți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Inițializare &amp; Caching @lru_cache 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Near-Identity Init: Ponderile TTN sunt inițializate în [−π/12, +π/12] pentru a evita platourile aride.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• Inferență rapidă: Compilarea circuitului zgomotos este memorată cu @lru_cache fără backprop la testare.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55807" y="6477967"/>
            <a:ext cx="12376386" cy="169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Recalibrarea Pragului sub Zgomot: Pentru toate variantele, pragul de clasificare este recalculat pe scorurile de validare obținute sub același nivel de zgomot p prin maximizarea scorului F1 (choose_threshold).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8662" y="1697382"/>
            <a:ext cx="13809058" cy="281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Formula Reconstrucției Exponențiale Zero-Noise Extrapolation (pentru c = 1,5)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|Zideal | = exp( [c / (c − 1)] · ln|Z1 | − [1 / (c − 1)] · ln|Z2 | ) = |Z1 | 3 / |Z2 | 2 → Pideal = clip( (1 − sign(Z1 )·|Zideal |) / 2, 0, 1 ) 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Spre deosebire de extrapolarea liniară Richardson, forma exponențială respectă legea fizică exactă de atenuare a canalului de depolarizare pe circuite cuantice.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98662" y="1994521"/>
            <a:ext cx="7078154" cy="4218294"/>
          </a:xfrm>
          <a:custGeom>
            <a:avLst/>
            <a:gdLst/>
            <a:ahLst/>
            <a:cxnLst/>
            <a:rect l="l" t="t" r="r" b="b"/>
            <a:pathLst>
              <a:path w="7078154" h="4218294">
                <a:moveTo>
                  <a:pt x="0" y="0"/>
                </a:moveTo>
                <a:lnTo>
                  <a:pt x="7078155" y="0"/>
                </a:lnTo>
                <a:lnTo>
                  <a:pt x="7078155" y="4218294"/>
                </a:lnTo>
                <a:lnTo>
                  <a:pt x="0" y="4218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080493" y="3122481"/>
            <a:ext cx="5786366" cy="4480807"/>
          </a:xfrm>
          <a:custGeom>
            <a:avLst/>
            <a:gdLst/>
            <a:ahLst/>
            <a:cxnLst/>
            <a:rect l="l" t="t" r="r" b="b"/>
            <a:pathLst>
              <a:path w="5786366" h="4480807">
                <a:moveTo>
                  <a:pt x="0" y="0"/>
                </a:moveTo>
                <a:lnTo>
                  <a:pt x="5786366" y="0"/>
                </a:lnTo>
                <a:lnTo>
                  <a:pt x="5786366" y="4480806"/>
                </a:lnTo>
                <a:lnTo>
                  <a:pt x="0" y="44808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095" y="6621272"/>
            <a:ext cx="10386417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 Evoluția Test AUPRC (Medie ± STD pe 7 Seed-uri) pentru p ∈ {0, 0.001, 0.01, 0.05}.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57254" y="7812837"/>
            <a:ext cx="9008983" cy="40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Tabelul complet cu AUPRC, AUROC, Spearman ρ, Precision, Recall și F1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16878" y="448144"/>
            <a:ext cx="8531143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Evoluția Test AUPRC și Tabelul Centralizator sub Zgomot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90562" y="1866609"/>
            <a:ext cx="13896038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Superioritatea TTN (Noise-Aware) la Zgomot Mic și Mediu (p ≤ 0,01)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Obține cel mai ridicat AUPRC mediu dintre toate modelele: 0,433 ± 0,185 la p = 0,001 și 0,427 ± 0,180 la p = 0,01, depășind atât Regresia Logistică (0,355), cât și Baseline VQC (0,395).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90562" y="3856382"/>
            <a:ext cx="13896038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Dominanța TTN (ZNE Exponențial) la Zgomot Sever (p = 0,05):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În timp ce Baseline VQC scade abrupt la 0,331 ± 0,078, modelul 5. TTN (ZNE) urcă pe primul loc cu AUPRC = 0,401 ± 0,175, urmat de 4. TTN (Noise-Aware) cu 0,393 ± 0,155.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98662" y="6112524"/>
            <a:ext cx="13896038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Protecția Clasamentului (Spearman ρ la p = 0,05):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zgomot de 5% pe poartă, ordinea tranzacțiilor în Baseline VQC se degradează masiv (Spearman ρ = 0,545 ± 0,160). În schimb, variantele noastre păstrează clasamentul aproape intact: ρ = 0,987 ± 0,029 pentru TTN (ZNE) și ρ = 0,952 ± 0,043 pentru TTN (Frugal)!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98662" y="1576539"/>
            <a:ext cx="5929842" cy="3931019"/>
          </a:xfrm>
          <a:custGeom>
            <a:avLst/>
            <a:gdLst/>
            <a:ahLst/>
            <a:cxnLst/>
            <a:rect l="l" t="t" r="r" b="b"/>
            <a:pathLst>
              <a:path w="5929842" h="3931019">
                <a:moveTo>
                  <a:pt x="0" y="0"/>
                </a:moveTo>
                <a:lnTo>
                  <a:pt x="5929842" y="0"/>
                </a:lnTo>
                <a:lnTo>
                  <a:pt x="5929842" y="3931018"/>
                </a:lnTo>
                <a:lnTo>
                  <a:pt x="0" y="39310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588791" y="1758567"/>
            <a:ext cx="5380671" cy="3566961"/>
          </a:xfrm>
          <a:custGeom>
            <a:avLst/>
            <a:gdLst/>
            <a:ahLst/>
            <a:cxnLst/>
            <a:rect l="l" t="t" r="r" b="b"/>
            <a:pathLst>
              <a:path w="5380671" h="3566961">
                <a:moveTo>
                  <a:pt x="0" y="0"/>
                </a:moveTo>
                <a:lnTo>
                  <a:pt x="5380671" y="0"/>
                </a:lnTo>
                <a:lnTo>
                  <a:pt x="5380671" y="3566962"/>
                </a:lnTo>
                <a:lnTo>
                  <a:pt x="0" y="3566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750473" y="5979977"/>
            <a:ext cx="5380671" cy="3566961"/>
          </a:xfrm>
          <a:custGeom>
            <a:avLst/>
            <a:gdLst/>
            <a:ahLst/>
            <a:cxnLst/>
            <a:rect l="l" t="t" r="r" b="b"/>
            <a:pathLst>
              <a:path w="5380671" h="3566961">
                <a:moveTo>
                  <a:pt x="0" y="0"/>
                </a:moveTo>
                <a:lnTo>
                  <a:pt x="5380670" y="0"/>
                </a:lnTo>
                <a:lnTo>
                  <a:pt x="5380670" y="3566962"/>
                </a:lnTo>
                <a:lnTo>
                  <a:pt x="0" y="3566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840043" y="5634144"/>
            <a:ext cx="5317310" cy="4258628"/>
            <a:chOff x="0" y="0"/>
            <a:chExt cx="1094097" cy="8762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4097" cy="876261"/>
            </a:xfrm>
            <a:custGeom>
              <a:avLst/>
              <a:gdLst/>
              <a:ahLst/>
              <a:cxnLst/>
              <a:rect l="l" t="t" r="r" b="b"/>
              <a:pathLst>
                <a:path w="1094097" h="876261">
                  <a:moveTo>
                    <a:pt x="28437" y="0"/>
                  </a:moveTo>
                  <a:lnTo>
                    <a:pt x="1065660" y="0"/>
                  </a:lnTo>
                  <a:cubicBezTo>
                    <a:pt x="1073202" y="0"/>
                    <a:pt x="1080435" y="2996"/>
                    <a:pt x="1085768" y="8329"/>
                  </a:cubicBezTo>
                  <a:cubicBezTo>
                    <a:pt x="1091101" y="13662"/>
                    <a:pt x="1094097" y="20895"/>
                    <a:pt x="1094097" y="28437"/>
                  </a:cubicBezTo>
                  <a:lnTo>
                    <a:pt x="1094097" y="847824"/>
                  </a:lnTo>
                  <a:cubicBezTo>
                    <a:pt x="1094097" y="855366"/>
                    <a:pt x="1091101" y="862599"/>
                    <a:pt x="1085768" y="867932"/>
                  </a:cubicBezTo>
                  <a:cubicBezTo>
                    <a:pt x="1080435" y="873265"/>
                    <a:pt x="1073202" y="876261"/>
                    <a:pt x="1065660" y="876261"/>
                  </a:cubicBezTo>
                  <a:lnTo>
                    <a:pt x="28437" y="876261"/>
                  </a:lnTo>
                  <a:cubicBezTo>
                    <a:pt x="20895" y="876261"/>
                    <a:pt x="13662" y="873265"/>
                    <a:pt x="8329" y="867932"/>
                  </a:cubicBezTo>
                  <a:cubicBezTo>
                    <a:pt x="2996" y="862599"/>
                    <a:pt x="0" y="855366"/>
                    <a:pt x="0" y="847824"/>
                  </a:cubicBezTo>
                  <a:lnTo>
                    <a:pt x="0" y="28437"/>
                  </a:lnTo>
                  <a:cubicBezTo>
                    <a:pt x="0" y="20895"/>
                    <a:pt x="2996" y="13662"/>
                    <a:pt x="8329" y="8329"/>
                  </a:cubicBezTo>
                  <a:cubicBezTo>
                    <a:pt x="13662" y="2996"/>
                    <a:pt x="20895" y="0"/>
                    <a:pt x="28437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094097" cy="885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r>
                <a:rPr lang="en-US" sz="2500" b="1">
                  <a:solidFill>
                    <a:srgbClr val="000000"/>
                  </a:solidFill>
                  <a:latin typeface="Alegreya Sans SC Bold"/>
                  <a:ea typeface="Alegreya Sans SC Bold"/>
                  <a:cs typeface="Alegreya Sans SC Bold"/>
                  <a:sym typeface="Alegreya Sans SC Bold"/>
                </a:rPr>
                <a:t>De ce TTN + ZNE domină la p = 0,05? •</a:t>
              </a:r>
              <a:r>
                <a:rPr lang="en-US" sz="2500">
                  <a:solidFill>
                    <a:srgbClr val="000000"/>
                  </a:solidFill>
                  <a:latin typeface="Alegreya Sans SC"/>
                  <a:ea typeface="Alegreya Sans SC"/>
                  <a:cs typeface="Alegreya Sans SC"/>
                  <a:sym typeface="Alegreya Sans SC"/>
                </a:rPr>
                <a:t> Precizie 100% pe primul palier: Curba mov (5. TTN ZNE) și cea albastră (3. TTN Frugal) mențin Precision = 1,0 până la un Recall &gt; 0,42, găsind aproape jumătate din fraude fără nicio alarmă falsă. • Corecția ZNE la zgomot mare: La p = 0,05, extrapolarea exponențială recuperează +6,7% AUPRC peste TTN Frugal (0,758 vs. 0,691) și oferă un scor de 2,65× mai mare decât Baseline VQC (0,285). 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032917" y="377852"/>
            <a:ext cx="9118304" cy="436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799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Robustețea Curbelor Precision-Recall la p = 0,001, 0,01 și 0,05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97135" y="1743355"/>
            <a:ext cx="9293731" cy="3400145"/>
          </a:xfrm>
          <a:custGeom>
            <a:avLst/>
            <a:gdLst/>
            <a:ahLst/>
            <a:cxnLst/>
            <a:rect l="l" t="t" r="r" b="b"/>
            <a:pathLst>
              <a:path w="9293731" h="3400145">
                <a:moveTo>
                  <a:pt x="0" y="0"/>
                </a:moveTo>
                <a:lnTo>
                  <a:pt x="9293730" y="0"/>
                </a:lnTo>
                <a:lnTo>
                  <a:pt x="9293730" y="3400145"/>
                </a:lnTo>
                <a:lnTo>
                  <a:pt x="0" y="34001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43564" y="516978"/>
            <a:ext cx="8531143" cy="1059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60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Eficiența Economică: Parameter-Shift vs. TTN Frugal &amp; SPSA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4858" y="5414221"/>
            <a:ext cx="16609142" cy="103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8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Impactul Financiar în Cloud QPU:</a:t>
            </a:r>
            <a:r>
              <a:rPr lang="en-US" sz="240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 Pe procesoarele cuantice reale (unde costul este facturat direct per shot și secundă de execuție), reducerea de 81× a execuțiilor de antrenare (30×65 = 1950 vs. 8×3 = 24 execuții/tranzacție pe întreg antrenamentul) scade factura hardware de la mii de dolari la câțiva dolari per rulare.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77715" y="6711145"/>
            <a:ext cx="14788523" cy="155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Antrenare Noise-Aware cu Cost Zero de Simulare Mixtă:</a:t>
            </a:r>
            <a:r>
              <a:rPr lang="en-US" sz="2799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 Folosind emularea matematică clean_expval * DAMPING_FACTOR pe default.qubit, antrenarea conștientă de zgomot rulează instantaneu, eliminând complet overhead-ul exponențial al matricilor de densitate în faza de antrenare.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928726" y="749233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604277" y="2045423"/>
            <a:ext cx="13028518" cy="2466279"/>
            <a:chOff x="0" y="0"/>
            <a:chExt cx="3431379" cy="6495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31379" cy="649555"/>
            </a:xfrm>
            <a:custGeom>
              <a:avLst/>
              <a:gdLst/>
              <a:ahLst/>
              <a:cxnLst/>
              <a:rect l="l" t="t" r="r" b="b"/>
              <a:pathLst>
                <a:path w="3431379" h="649555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604277" y="4768877"/>
            <a:ext cx="13028518" cy="2466279"/>
            <a:chOff x="0" y="0"/>
            <a:chExt cx="3431379" cy="6495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31379" cy="649555"/>
            </a:xfrm>
            <a:custGeom>
              <a:avLst/>
              <a:gdLst/>
              <a:ahLst/>
              <a:cxnLst/>
              <a:rect l="l" t="t" r="r" b="b"/>
              <a:pathLst>
                <a:path w="3431379" h="649555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629741" y="7492330"/>
            <a:ext cx="13028518" cy="2466279"/>
            <a:chOff x="0" y="0"/>
            <a:chExt cx="3431379" cy="6495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31379" cy="649555"/>
            </a:xfrm>
            <a:custGeom>
              <a:avLst/>
              <a:gdLst/>
              <a:ahLst/>
              <a:cxnLst/>
              <a:rect l="l" t="t" r="r" b="b"/>
              <a:pathLst>
                <a:path w="3431379" h="649555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0373" y="5828909"/>
            <a:ext cx="140918" cy="14091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173835" y="499947"/>
            <a:ext cx="8531143" cy="1284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Concluzii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40373" y="2296440"/>
            <a:ext cx="10066336" cy="1786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541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Obiectivul central este demonstrarea faptului că arhitecturile cuantice compacte și optimizate topologic, precum Tree Tensor Network (TTN / Con de Lumină), rezistă mult mai bine la zgomotul hardware și reduc drastic costurile de antrenare comparativ cu circuitele cuantice standard.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39126" y="4980464"/>
            <a:ext cx="10066336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9" lvl="1" indent="-377824" algn="l">
              <a:lnSpc>
                <a:spcPts val="5389"/>
              </a:lnSpc>
              <a:buFont typeface="Arial"/>
              <a:buChar char="•"/>
            </a:pPr>
            <a:endParaRPr dirty="0"/>
          </a:p>
        </p:txBody>
      </p:sp>
      <p:sp>
        <p:nvSpPr>
          <p:cNvPr id="22" name="TextBox 22"/>
          <p:cNvSpPr txBox="1"/>
          <p:nvPr/>
        </p:nvSpPr>
        <p:spPr>
          <a:xfrm>
            <a:off x="4110832" y="5176679"/>
            <a:ext cx="1006633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Topologia TTN-Funnel (4 CNOT): A păstrat corelația Spearman ρ &gt; 0,95 la p = 0,05.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68190" y="5648251"/>
            <a:ext cx="1302851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2. Emularea Damping-ului (1−p) 22 : A oferit cel mai bun AUPRC mediu la p ≤ 0,01 (0,433).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040373" y="6304841"/>
            <a:ext cx="140918" cy="140918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344392" y="6208775"/>
            <a:ext cx="10980073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spcBef>
                <a:spcPct val="0"/>
              </a:spcBef>
              <a:buAutoNum type="arabicPeriod"/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ZNE Exponențial: A recuperat spectaculos precizia la zgomot sever (p = 0,05, AUPRC 0,758 pe Seed 1).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3969914" y="8601509"/>
            <a:ext cx="140918" cy="140918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969914" y="7920955"/>
            <a:ext cx="140918" cy="140918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4181291" y="7810757"/>
            <a:ext cx="1056001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Baseline-ul adânc (32 param): Suferă de NoiseInduced Barren Plateaus la p=0,05 (ρ = 0,545).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44392" y="8491310"/>
            <a:ext cx="983277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Inițializarea aleatoare fără generator fixat: Crește varianța între seed-uri (STD ≈ 0,17).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90968" y="3697756"/>
            <a:ext cx="7691481" cy="2823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35"/>
              </a:lnSpc>
            </a:pPr>
            <a:r>
              <a:rPr lang="en-US" sz="17790" dirty="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Thank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82000" y="3697756"/>
            <a:ext cx="4114800" cy="2436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045"/>
              </a:lnSpc>
            </a:pPr>
            <a:r>
              <a:rPr lang="en-US" sz="17799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You</a:t>
            </a:r>
          </a:p>
        </p:txBody>
      </p:sp>
      <p:sp>
        <p:nvSpPr>
          <p:cNvPr id="8" name="Freeform 8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1389</Words>
  <Application>Microsoft Office PowerPoint</Application>
  <PresentationFormat>Custom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Times New Roman Bold</vt:lpstr>
      <vt:lpstr>Alegreya Sans SC Bold</vt:lpstr>
      <vt:lpstr>Times New Roman</vt:lpstr>
      <vt:lpstr>Arial</vt:lpstr>
      <vt:lpstr>Alegreya Sans SC</vt:lpstr>
      <vt:lpstr>Aileron</vt:lpstr>
      <vt:lpstr>Calibri</vt:lpstr>
      <vt:lpstr>Charmonman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on a Quantum Budget: Arhitectura TTN-Funnel, Noise-Aware &amp; ZNE Exponențial</dc:title>
  <dc:creator>Costea Filip</dc:creator>
  <cp:lastModifiedBy>Costea Filip</cp:lastModifiedBy>
  <cp:revision>4</cp:revision>
  <dcterms:created xsi:type="dcterms:W3CDTF">2006-08-16T00:00:00Z</dcterms:created>
  <dcterms:modified xsi:type="dcterms:W3CDTF">2026-10-25T06:11:08Z</dcterms:modified>
  <dc:identifier>DAHY-3QYgkk</dc:identifier>
</cp:coreProperties>
</file>